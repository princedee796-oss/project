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7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ECED1851-7D35-FA1A-23DA-A5D11D9F8859}">
          <p14:sldIdLst>
            <p14:sldId id="256"/>
            <p14:sldId id="257"/>
          </p14:sldIdLst>
        </p14:section>
        <p14:section name="How it works" id="{78E3A7C8-7650-D124-DE7A-6DA0619EC76E}">
          <p14:sldIdLst>
            <p14:sldId id="258"/>
            <p14:sldId id="259"/>
            <p14:sldId id="260"/>
            <p14:sldId id="261"/>
          </p14:sldIdLst>
        </p14:section>
        <p14:section name="Trust and admin" id="{A53C8CA9-7A6E-8530-19E3-A4CE162301F2}">
          <p14:sldIdLst>
            <p14:sldId id="262"/>
          </p14:sldIdLst>
        </p14:section>
        <p14:section name="Security and updates" id="{CC0DA5FA-2BD7-3F6F-907A-E9FC14A529A4}">
          <p14:sldIdLst>
            <p14:sldId id="264"/>
            <p14:sldId id="265"/>
          </p14:sldIdLst>
        </p14:section>
        <p14:section name="Wrap-up" id="{866353B1-EF84-D88D-AA64-EFA90072827D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4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2246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Nigerian event discovery and ticketing site. The backend is pure Python (no Flask, Django or FastAPI) with a little vanilla JavaScript on the frontend. The ticket on the right is the visual idea used across the whole 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things the site does: help people find events, book tickets, avoid scam events, and let organizers manage their events.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browser talks to a Python server with fetch(). The server reads and writes SQLite and replies with JSON. It runs on your own computer at 127.0.0.1:8000. The server is needed because only Python can write to the database and enforce the rules; anything done only in the browser can be bypassed.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SQLite with plain SQL, no ORM. Foreign keys are switched on. Every query uses ? placeholders.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Sign-up only offers Attendee or Organizer. The server turns any other role into attendee, because hiding a dropdown is not security. The first admin is created by the server at start-up or with create_admin.py.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data flow: click, server checks login and capacity, a code is generated, the ticket is saved as valid, and at the door only the event's organizer can change it to used, so the same ticket cannot enter twice.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layers: an automatic score that starts at 60 and moves up or down with signals; community reports, one per person per event; and admin review, which always overrides the automatic score. Flagged events cannot be booked. Be honest: the score is a guide, not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honest limits on the last content slide: SHA-256 is fast (bcrypt or argon2 is better), tokens never expire and live in server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small changes that work together. Event pages now show who runs the event (name only, no email). To make that name meaningful, no two accounts may share a name. Case and extra spaces are ignored. It is checked at sign-up, on the profile page and when the first admin is created, and a unique database index is the backstop.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 Likely ones: why no Flask, is it secure, what if two people book the last ticket, how would you scale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011680"/>
            <a:ext cx="694944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840480"/>
            <a:ext cx="67665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Naija Events  |  Event discovery &amp; ticket management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6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011680"/>
            <a:ext cx="6949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bg1"/>
                </a:solidFill>
              </a:rPr>
              <a:t>Naija Events</a:t>
            </a: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84048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chemeClr val="bg2"/>
                </a:solidFill>
              </a:rPr>
              <a:t>Nigerian event discovery and ticket management system. A pure-Python web app built for school.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0" y="2423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0" y="322511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Why Naija Events?</a:t>
            </a:r>
            <a:endParaRPr lang="en-US" sz="3600" dirty="0"/>
          </a:p>
        </p:txBody>
      </p:sp>
      <p:sp>
        <p:nvSpPr>
          <p:cNvPr id="4" name="Why card 1"/>
          <p:cNvSpPr/>
          <p:nvPr/>
        </p:nvSpPr>
        <p:spPr>
          <a:xfrm>
            <a:off x="548640" y="1554480"/>
            <a:ext cx="2560320" cy="3200400"/>
          </a:xfrm>
          <a:prstGeom prst="rect">
            <a:avLst/>
          </a:prstGeom>
          <a:solidFill>
            <a:schemeClr val="tx2"/>
          </a:solidFill>
          <a:ln w="15875">
            <a:solidFill>
              <a:schemeClr val="accent3"/>
            </a:solidFill>
            <a:prstDash val="dash"/>
          </a:ln>
        </p:spPr>
      </p:sp>
      <p:sp>
        <p:nvSpPr>
          <p:cNvPr id="5" name="Icon circle"/>
          <p:cNvSpPr/>
          <p:nvPr/>
        </p:nvSpPr>
        <p:spPr>
          <a:xfrm>
            <a:off x="822960" y="182880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 FaSearch" descr="Search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034540"/>
            <a:ext cx="411480" cy="4114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22960" y="2880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Discover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338328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Search and filter events by category, location and date.</a:t>
            </a:r>
            <a:endParaRPr lang="en-US" sz="1400" dirty="0"/>
          </a:p>
        </p:txBody>
      </p:sp>
      <p:sp>
        <p:nvSpPr>
          <p:cNvPr id="9" name="Why card 2"/>
          <p:cNvSpPr/>
          <p:nvPr/>
        </p:nvSpPr>
        <p:spPr>
          <a:xfrm>
            <a:off x="3383280" y="1554480"/>
            <a:ext cx="2560320" cy="3200400"/>
          </a:xfrm>
          <a:prstGeom prst="rect">
            <a:avLst/>
          </a:prstGeom>
          <a:solidFill>
            <a:schemeClr val="tx2"/>
          </a:solidFill>
          <a:ln w="15875">
            <a:solidFill>
              <a:schemeClr val="accent3"/>
            </a:solidFill>
            <a:prstDash val="dash"/>
          </a:ln>
        </p:spPr>
      </p:sp>
      <p:sp>
        <p:nvSpPr>
          <p:cNvPr id="10" name="Icon circle"/>
          <p:cNvSpPr/>
          <p:nvPr/>
        </p:nvSpPr>
        <p:spPr>
          <a:xfrm>
            <a:off x="3657600" y="182880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 FaTicketAlt" descr="TicketAlt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3340" y="2034540"/>
            <a:ext cx="411480" cy="4114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657600" y="2880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Book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3657600" y="338328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Get a unique ticket code in one click, free or paid.</a:t>
            </a:r>
            <a:endParaRPr lang="en-US" sz="1400" dirty="0"/>
          </a:p>
        </p:txBody>
      </p:sp>
      <p:sp>
        <p:nvSpPr>
          <p:cNvPr id="14" name="Why card 3"/>
          <p:cNvSpPr/>
          <p:nvPr/>
        </p:nvSpPr>
        <p:spPr>
          <a:xfrm>
            <a:off x="6217920" y="1554480"/>
            <a:ext cx="2560320" cy="3200400"/>
          </a:xfrm>
          <a:prstGeom prst="rect">
            <a:avLst/>
          </a:prstGeom>
          <a:solidFill>
            <a:schemeClr val="tx2"/>
          </a:solidFill>
          <a:ln w="15875">
            <a:solidFill>
              <a:schemeClr val="accent3"/>
            </a:solidFill>
            <a:prstDash val="dash"/>
          </a:ln>
        </p:spPr>
      </p:sp>
      <p:sp>
        <p:nvSpPr>
          <p:cNvPr id="15" name="Icon circle"/>
          <p:cNvSpPr/>
          <p:nvPr/>
        </p:nvSpPr>
        <p:spPr>
          <a:xfrm>
            <a:off x="6492240" y="182880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on FaShieldAlt" descr="ShieldAlt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7980" y="203454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492240" y="2880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Stay safe</a:t>
            </a:r>
            <a:endParaRPr lang="en-US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6492240" y="338328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A trust score and community reports warn about scam events.</a:t>
            </a:r>
            <a:endParaRPr lang="en-US" sz="1400" dirty="0"/>
          </a:p>
        </p:txBody>
      </p:sp>
      <p:sp>
        <p:nvSpPr>
          <p:cNvPr id="19" name="Why card 4"/>
          <p:cNvSpPr/>
          <p:nvPr/>
        </p:nvSpPr>
        <p:spPr>
          <a:xfrm>
            <a:off x="9052560" y="1554480"/>
            <a:ext cx="2560320" cy="3200400"/>
          </a:xfrm>
          <a:prstGeom prst="rect">
            <a:avLst/>
          </a:prstGeom>
          <a:solidFill>
            <a:schemeClr val="tx2"/>
          </a:solidFill>
          <a:ln w="15875">
            <a:solidFill>
              <a:schemeClr val="accent3"/>
            </a:solidFill>
            <a:prstDash val="dash"/>
          </a:ln>
        </p:spPr>
      </p:sp>
      <p:sp>
        <p:nvSpPr>
          <p:cNvPr id="20" name="Icon circle"/>
          <p:cNvSpPr/>
          <p:nvPr/>
        </p:nvSpPr>
        <p:spPr>
          <a:xfrm>
            <a:off x="9326880" y="182880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con FaCalendarPlus" descr="CalendarPlus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32620" y="203454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326880" y="2880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Organize</a:t>
            </a:r>
            <a:endParaRPr lang="en-US" sz="2000" dirty="0"/>
          </a:p>
        </p:txBody>
      </p:sp>
      <p:sp>
        <p:nvSpPr>
          <p:cNvPr id="23" name="Text 16"/>
          <p:cNvSpPr txBox="1"/>
          <p:nvPr/>
        </p:nvSpPr>
        <p:spPr>
          <a:xfrm>
            <a:off x="9326880" y="338328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Organizers create events, track sales and check guests in.</a:t>
            </a:r>
            <a:endParaRPr lang="en-US" sz="1400" dirty="0"/>
          </a:p>
        </p:txBody>
      </p:sp>
      <p:sp>
        <p:nvSpPr>
          <p:cNvPr id="24" name="Text 17"/>
          <p:cNvSpPr txBox="1"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i="1" dirty="0">
                <a:solidFill>
                  <a:schemeClr val="accent2"/>
                </a:solidFill>
              </a:rPr>
              <a:t>Find it. Book it. Trust it.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How it works</a:t>
            </a:r>
            <a:endParaRPr lang="en-US" sz="3600" dirty="0"/>
          </a:p>
        </p:txBody>
      </p:sp>
      <p:sp>
        <p:nvSpPr>
          <p:cNvPr id="4" name="Architecture box 1"/>
          <p:cNvSpPr/>
          <p:nvPr/>
        </p:nvSpPr>
        <p:spPr>
          <a:xfrm>
            <a:off x="548640" y="1554480"/>
            <a:ext cx="2926080" cy="2377440"/>
          </a:xfrm>
          <a:prstGeom prst="rect">
            <a:avLst/>
          </a:prstGeom>
          <a:solidFill>
            <a:schemeClr val="tx2"/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5" name="Icon circle"/>
          <p:cNvSpPr/>
          <p:nvPr/>
        </p:nvSpPr>
        <p:spPr>
          <a:xfrm>
            <a:off x="1645920" y="17830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 FaDesktop" descr="Desktop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965960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3152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Browser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731520" y="31089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HTML, CSS and a little JavaScript</a:t>
            </a:r>
            <a:endParaRPr lang="en-US" sz="1400" dirty="0"/>
          </a:p>
        </p:txBody>
      </p:sp>
      <p:sp>
        <p:nvSpPr>
          <p:cNvPr id="9" name="Architecture box 2"/>
          <p:cNvSpPr/>
          <p:nvPr/>
        </p:nvSpPr>
        <p:spPr>
          <a:xfrm>
            <a:off x="4617720" y="1554480"/>
            <a:ext cx="2926080" cy="2377440"/>
          </a:xfrm>
          <a:prstGeom prst="rect">
            <a:avLst/>
          </a:prstGeom>
          <a:solidFill>
            <a:schemeClr val="tx2"/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10" name="Icon circle"/>
          <p:cNvSpPr/>
          <p:nvPr/>
        </p:nvSpPr>
        <p:spPr>
          <a:xfrm>
            <a:off x="5715000" y="17830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 FaServer" descr="Server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196596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80060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server.py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4800600" y="31089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Python http.server, routes and rules</a:t>
            </a:r>
            <a:endParaRPr lang="en-US" sz="1400" dirty="0"/>
          </a:p>
        </p:txBody>
      </p:sp>
      <p:sp>
        <p:nvSpPr>
          <p:cNvPr id="14" name="Architecture box 3"/>
          <p:cNvSpPr/>
          <p:nvPr/>
        </p:nvSpPr>
        <p:spPr>
          <a:xfrm>
            <a:off x="8686800" y="1554480"/>
            <a:ext cx="2926080" cy="2377440"/>
          </a:xfrm>
          <a:prstGeom prst="rect">
            <a:avLst/>
          </a:prstGeom>
          <a:solidFill>
            <a:schemeClr val="tx2"/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15" name="Icon circle"/>
          <p:cNvSpPr/>
          <p:nvPr/>
        </p:nvSpPr>
        <p:spPr>
          <a:xfrm>
            <a:off x="9784080" y="17830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on FaDatabase" descr="Databas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0" y="196596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86968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events.db</a:t>
            </a:r>
            <a:endParaRPr lang="en-US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8869680" y="31089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SQLite: users, events, tickets</a:t>
            </a:r>
            <a:endParaRPr lang="en-US" sz="1400" dirty="0"/>
          </a:p>
        </p:txBody>
      </p:sp>
      <p:sp>
        <p:nvSpPr>
          <p:cNvPr id="19" name="Arrow 1"/>
          <p:cNvSpPr/>
          <p:nvPr/>
        </p:nvSpPr>
        <p:spPr>
          <a:xfrm>
            <a:off x="3566160" y="2606040"/>
            <a:ext cx="96012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0" name="Text 14"/>
          <p:cNvSpPr txBox="1"/>
          <p:nvPr/>
        </p:nvSpPr>
        <p:spPr>
          <a:xfrm>
            <a:off x="3566160" y="219456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fetch /api/...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3566160" y="2724912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JSON reply</a:t>
            </a:r>
            <a:endParaRPr lang="en-US" sz="1200" dirty="0"/>
          </a:p>
        </p:txBody>
      </p:sp>
      <p:sp>
        <p:nvSpPr>
          <p:cNvPr id="22" name="Arrow 2"/>
          <p:cNvSpPr/>
          <p:nvPr/>
        </p:nvSpPr>
        <p:spPr>
          <a:xfrm>
            <a:off x="7635240" y="2606040"/>
            <a:ext cx="96012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3" name="Text 17"/>
          <p:cNvSpPr txBox="1"/>
          <p:nvPr/>
        </p:nvSpPr>
        <p:spPr>
          <a:xfrm>
            <a:off x="7635240" y="219456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SQL queries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7635240" y="2724912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rows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The database: five tables</a:t>
            </a:r>
            <a:endParaRPr lang="en-US" sz="3600" dirty="0"/>
          </a:p>
        </p:txBody>
      </p:sp>
      <p:sp>
        <p:nvSpPr>
          <p:cNvPr id="4" name="Table card users"/>
          <p:cNvSpPr/>
          <p:nvPr/>
        </p:nvSpPr>
        <p:spPr>
          <a:xfrm>
            <a:off x="548640" y="1508760"/>
            <a:ext cx="3566160" cy="2194560"/>
          </a:xfrm>
          <a:prstGeom prst="rect">
            <a:avLst/>
          </a:prstGeom>
          <a:solidFill>
            <a:schemeClr val="tx2"/>
          </a:solidFill>
          <a:ln w="15875">
            <a:solidFill>
              <a:schemeClr val="accent3"/>
            </a:solidFill>
            <a:prstDash val="dash"/>
          </a:ln>
        </p:spPr>
      </p:sp>
      <p:sp>
        <p:nvSpPr>
          <p:cNvPr id="5" name="Text 2"/>
          <p:cNvSpPr txBox="1"/>
          <p:nvPr/>
        </p:nvSpPr>
        <p:spPr>
          <a:xfrm>
            <a:off x="822960" y="1737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users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194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Every account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060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name (unique), email (unique), hashed password, role, status</a:t>
            </a:r>
            <a:endParaRPr lang="en-US" sz="1400" dirty="0"/>
          </a:p>
        </p:txBody>
      </p:sp>
      <p:sp>
        <p:nvSpPr>
          <p:cNvPr id="8" name="Table card events"/>
          <p:cNvSpPr/>
          <p:nvPr/>
        </p:nvSpPr>
        <p:spPr>
          <a:xfrm>
            <a:off x="4297680" y="1508760"/>
            <a:ext cx="3566160" cy="2194560"/>
          </a:xfrm>
          <a:prstGeom prst="rect">
            <a:avLst/>
          </a:prstGeom>
          <a:solidFill>
            <a:schemeClr val="tx2"/>
          </a:solidFill>
          <a:ln w="15875">
            <a:solidFill>
              <a:schemeClr val="accent3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4572000" y="1737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events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2194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Every event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26060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title, category, date, price, capacity, organizer_id</a:t>
            </a:r>
            <a:endParaRPr lang="en-US" sz="1400" dirty="0"/>
          </a:p>
        </p:txBody>
      </p:sp>
      <p:sp>
        <p:nvSpPr>
          <p:cNvPr id="12" name="Table card tickets"/>
          <p:cNvSpPr/>
          <p:nvPr/>
        </p:nvSpPr>
        <p:spPr>
          <a:xfrm>
            <a:off x="8046720" y="1508760"/>
            <a:ext cx="3566160" cy="2194560"/>
          </a:xfrm>
          <a:prstGeom prst="rect">
            <a:avLst/>
          </a:prstGeom>
          <a:solidFill>
            <a:schemeClr val="tx2"/>
          </a:solidFill>
          <a:ln w="15875">
            <a:solidFill>
              <a:schemeClr val="accent3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8321040" y="1737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tickets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8321040" y="2194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Every booking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8321040" y="26060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unique ticket_code, event, user, status: valid, used or cancelled</a:t>
            </a:r>
            <a:endParaRPr lang="en-US" sz="1400" dirty="0"/>
          </a:p>
        </p:txBody>
      </p:sp>
      <p:sp>
        <p:nvSpPr>
          <p:cNvPr id="16" name="Table card event_reports"/>
          <p:cNvSpPr/>
          <p:nvPr/>
        </p:nvSpPr>
        <p:spPr>
          <a:xfrm>
            <a:off x="548640" y="3886200"/>
            <a:ext cx="3566160" cy="2194560"/>
          </a:xfrm>
          <a:prstGeom prst="rect">
            <a:avLst/>
          </a:prstGeom>
          <a:solidFill>
            <a:schemeClr val="tx2"/>
          </a:solidFill>
          <a:ln w="15875">
            <a:solidFill>
              <a:schemeClr val="accent3"/>
            </a:solidFill>
            <a:prstDash val="dash"/>
          </a:ln>
        </p:spPr>
      </p:sp>
      <p:sp>
        <p:nvSpPr>
          <p:cNvPr id="17" name="Text 14"/>
          <p:cNvSpPr txBox="1"/>
          <p:nvPr/>
        </p:nvSpPr>
        <p:spPr>
          <a:xfrm>
            <a:off x="822960" y="4114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event_reports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" y="4572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Scam reports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49834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one report per person per event</a:t>
            </a:r>
            <a:endParaRPr lang="en-US" sz="1400" dirty="0"/>
          </a:p>
        </p:txBody>
      </p:sp>
      <p:sp>
        <p:nvSpPr>
          <p:cNvPr id="20" name="Table card activity_log"/>
          <p:cNvSpPr/>
          <p:nvPr/>
        </p:nvSpPr>
        <p:spPr>
          <a:xfrm>
            <a:off x="4297680" y="3886200"/>
            <a:ext cx="3566160" cy="2194560"/>
          </a:xfrm>
          <a:prstGeom prst="rect">
            <a:avLst/>
          </a:prstGeom>
          <a:solidFill>
            <a:schemeClr val="tx2"/>
          </a:solidFill>
          <a:ln w="15875">
            <a:solidFill>
              <a:schemeClr val="accent3"/>
            </a:solidFill>
            <a:prstDash val="dash"/>
          </a:ln>
        </p:spPr>
      </p:sp>
      <p:sp>
        <p:nvSpPr>
          <p:cNvPr id="21" name="Text 18"/>
          <p:cNvSpPr txBox="1"/>
          <p:nvPr/>
        </p:nvSpPr>
        <p:spPr>
          <a:xfrm>
            <a:off x="4572000" y="4114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activity_log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0" y="4572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Audit trail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0" y="49834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who did what, and when; admins can read it</a:t>
            </a:r>
            <a:endParaRPr lang="en-US" sz="1400" dirty="0"/>
          </a:p>
        </p:txBody>
      </p:sp>
      <p:sp>
        <p:nvSpPr>
          <p:cNvPr id="24" name="Relationships card"/>
          <p:cNvSpPr/>
          <p:nvPr/>
        </p:nvSpPr>
        <p:spPr>
          <a:xfrm>
            <a:off x="8046720" y="3886200"/>
            <a:ext cx="3566160" cy="2194560"/>
          </a:xfrm>
          <a:prstGeom prst="rect">
            <a:avLst/>
          </a:prstGeom>
          <a:solidFill>
            <a:schemeClr val="tx2"/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25" name="Text 22"/>
          <p:cNvSpPr txBox="1"/>
          <p:nvPr/>
        </p:nvSpPr>
        <p:spPr>
          <a:xfrm>
            <a:off x="8321040" y="4114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Links between tables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8321040" y="461772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events.organizer_id to users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tickets to events and users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reports to events and users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Three kinds of accounts</a:t>
            </a:r>
            <a:endParaRPr lang="en-US" sz="3600" dirty="0"/>
          </a:p>
        </p:txBody>
      </p:sp>
      <p:sp>
        <p:nvSpPr>
          <p:cNvPr id="4" name="Role card Attendee"/>
          <p:cNvSpPr/>
          <p:nvPr/>
        </p:nvSpPr>
        <p:spPr>
          <a:xfrm>
            <a:off x="548640" y="1508760"/>
            <a:ext cx="3566160" cy="3977640"/>
          </a:xfrm>
          <a:prstGeom prst="rect">
            <a:avLst/>
          </a:prstGeom>
          <a:solidFill>
            <a:schemeClr val="tx2"/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5" name="Icon circle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 FaUser" descr="User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965960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737360" y="1920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</a:rPr>
              <a:t>Attendee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301752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Browse, search and filter events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Book tickets and view them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Report suspicious events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Edit own profile</a:t>
            </a:r>
            <a:endParaRPr lang="en-US" sz="1400" dirty="0"/>
          </a:p>
        </p:txBody>
      </p:sp>
      <p:sp>
        <p:nvSpPr>
          <p:cNvPr id="9" name="Role card Organizer"/>
          <p:cNvSpPr/>
          <p:nvPr/>
        </p:nvSpPr>
        <p:spPr>
          <a:xfrm>
            <a:off x="4297680" y="1508760"/>
            <a:ext cx="3566160" cy="3977640"/>
          </a:xfrm>
          <a:prstGeom prst="rect">
            <a:avLst/>
          </a:prstGeom>
          <a:solidFill>
            <a:schemeClr val="tx2"/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10" name="Icon circle"/>
          <p:cNvSpPr/>
          <p:nvPr/>
        </p:nvSpPr>
        <p:spPr>
          <a:xfrm>
            <a:off x="4572000" y="17830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 FaUserTie" descr="UserTi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96596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486400" y="1920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</a:rPr>
              <a:t>Organizer</a:t>
            </a:r>
            <a:endParaRPr lang="en-US" sz="2400" dirty="0"/>
          </a:p>
        </p:txBody>
      </p:sp>
      <p:sp>
        <p:nvSpPr>
          <p:cNvPr id="13" name="Text 8"/>
          <p:cNvSpPr txBox="1"/>
          <p:nvPr/>
        </p:nvSpPr>
        <p:spPr>
          <a:xfrm>
            <a:off x="4572000" y="301752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Create, edit and delete own events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Dashboard with stats and charts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Export tickets to CSV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Check guests in at the door</a:t>
            </a:r>
            <a:endParaRPr lang="en-US" sz="1400" dirty="0"/>
          </a:p>
        </p:txBody>
      </p:sp>
      <p:sp>
        <p:nvSpPr>
          <p:cNvPr id="14" name="Role card Admin"/>
          <p:cNvSpPr/>
          <p:nvPr/>
        </p:nvSpPr>
        <p:spPr>
          <a:xfrm>
            <a:off x="8046720" y="1508760"/>
            <a:ext cx="3566160" cy="3977640"/>
          </a:xfrm>
          <a:prstGeom prst="rect">
            <a:avLst/>
          </a:prstGeom>
          <a:solidFill>
            <a:schemeClr val="tx2"/>
          </a:solidFill>
          <a:ln w="15875">
            <a:solidFill>
              <a:schemeClr val="accent2"/>
            </a:solidFill>
            <a:prstDash val="dash"/>
          </a:ln>
        </p:spPr>
      </p:sp>
      <p:sp>
        <p:nvSpPr>
          <p:cNvPr id="15" name="Icon circle"/>
          <p:cNvSpPr/>
          <p:nvPr/>
        </p:nvSpPr>
        <p:spPr>
          <a:xfrm>
            <a:off x="8321040" y="17830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Icon FaUserShield" descr="UserShield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196596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235440" y="1920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</a:rPr>
              <a:t>Admin</a:t>
            </a:r>
            <a:endParaRPr lang="en-US" sz="2400" dirty="0"/>
          </a:p>
        </p:txBody>
      </p:sp>
      <p:sp>
        <p:nvSpPr>
          <p:cNvPr id="18" name="Text 12"/>
          <p:cNvSpPr txBox="1"/>
          <p:nvPr/>
        </p:nvSpPr>
        <p:spPr>
          <a:xfrm>
            <a:off x="8321040" y="301752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Manage every user and event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Suspend, reset passwords, change roles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Review reported events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Read the activity log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bg2"/>
                </a:solidFill>
              </a:rPr>
              <a:t>Nobody can sign up as an admin. The server checks the role on every request.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From booking to the door</a:t>
            </a:r>
            <a:endParaRPr lang="en-US" sz="3600" dirty="0"/>
          </a:p>
        </p:txBody>
      </p:sp>
      <p:sp>
        <p:nvSpPr>
          <p:cNvPr id="4" name="Timeline line"/>
          <p:cNvSpPr/>
          <p:nvPr/>
        </p:nvSpPr>
        <p:spPr>
          <a:xfrm>
            <a:off x="1554480" y="2057400"/>
            <a:ext cx="905256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dash"/>
          </a:ln>
        </p:spPr>
      </p:sp>
      <p:sp>
        <p:nvSpPr>
          <p:cNvPr id="5" name="Step circle 1"/>
          <p:cNvSpPr/>
          <p:nvPr/>
        </p:nvSpPr>
        <p:spPr>
          <a:xfrm>
            <a:off x="1188720" y="1691640"/>
            <a:ext cx="731520" cy="73152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8872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Click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1089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Attendee presses Get a ticket</a:t>
            </a:r>
            <a:endParaRPr lang="en-US" sz="1400" dirty="0"/>
          </a:p>
        </p:txBody>
      </p:sp>
      <p:sp>
        <p:nvSpPr>
          <p:cNvPr id="9" name="Step circle 2"/>
          <p:cNvSpPr/>
          <p:nvPr/>
        </p:nvSpPr>
        <p:spPr>
          <a:xfrm>
            <a:off x="3451860" y="1691640"/>
            <a:ext cx="731520" cy="73152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5186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</a:rPr>
              <a:t>2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2811780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Check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2811780" y="31089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Server checks login, event and capacity</a:t>
            </a:r>
            <a:endParaRPr lang="en-US" sz="1400" dirty="0"/>
          </a:p>
        </p:txBody>
      </p:sp>
      <p:sp>
        <p:nvSpPr>
          <p:cNvPr id="13" name="Step circle 3"/>
          <p:cNvSpPr/>
          <p:nvPr/>
        </p:nvSpPr>
        <p:spPr>
          <a:xfrm>
            <a:off x="5715000" y="1691640"/>
            <a:ext cx="731520" cy="73152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71500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</a:rPr>
              <a:t>3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5074920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Code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5074920" y="31089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A unique ticket code is generated</a:t>
            </a:r>
            <a:endParaRPr lang="en-US" sz="1400" dirty="0"/>
          </a:p>
        </p:txBody>
      </p:sp>
      <p:sp>
        <p:nvSpPr>
          <p:cNvPr id="17" name="Step circle 4"/>
          <p:cNvSpPr/>
          <p:nvPr/>
        </p:nvSpPr>
        <p:spPr>
          <a:xfrm>
            <a:off x="7978140" y="1691640"/>
            <a:ext cx="731520" cy="73152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97814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</a:rPr>
              <a:t>4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7338060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Save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7338060" y="31089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Ticket stored with status valid</a:t>
            </a:r>
            <a:endParaRPr lang="en-US" sz="1400" dirty="0"/>
          </a:p>
        </p:txBody>
      </p:sp>
      <p:sp>
        <p:nvSpPr>
          <p:cNvPr id="21" name="Step circle 5"/>
          <p:cNvSpPr/>
          <p:nvPr/>
        </p:nvSpPr>
        <p:spPr>
          <a:xfrm>
            <a:off x="10241280" y="1691640"/>
            <a:ext cx="731520" cy="731520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24128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</a:rPr>
              <a:t>5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9601200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Verify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9601200" y="31089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Organizer checks it in at the door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Is this event legit?</a:t>
            </a:r>
            <a:endParaRPr lang="en-US" sz="3600" dirty="0"/>
          </a:p>
        </p:txBody>
      </p:sp>
      <p:sp>
        <p:nvSpPr>
          <p:cNvPr id="4" name="Layer card 1"/>
          <p:cNvSpPr/>
          <p:nvPr/>
        </p:nvSpPr>
        <p:spPr>
          <a:xfrm>
            <a:off x="548640" y="1508760"/>
            <a:ext cx="6035040" cy="1280160"/>
          </a:xfrm>
          <a:prstGeom prst="rect">
            <a:avLst/>
          </a:prstGeom>
          <a:solidFill>
            <a:schemeClr val="tx2"/>
          </a:solidFill>
          <a:ln w="15875">
            <a:solidFill>
              <a:schemeClr val="accent3"/>
            </a:solidFill>
            <a:prstDash val="dash"/>
          </a:ln>
        </p:spPr>
      </p:sp>
      <p:sp>
        <p:nvSpPr>
          <p:cNvPr id="5" name="Icon circle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 FaCode" descr="Cod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965960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82880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1. Automatic score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1828800" y="21031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Starts at 60, then goes up or down with warning and good signs (0 to 100).</a:t>
            </a:r>
            <a:endParaRPr lang="en-US" sz="1400" dirty="0"/>
          </a:p>
        </p:txBody>
      </p:sp>
      <p:sp>
        <p:nvSpPr>
          <p:cNvPr id="9" name="Layer card 2"/>
          <p:cNvSpPr/>
          <p:nvPr/>
        </p:nvSpPr>
        <p:spPr>
          <a:xfrm>
            <a:off x="548640" y="2971800"/>
            <a:ext cx="6035040" cy="1280160"/>
          </a:xfrm>
          <a:prstGeom prst="rect">
            <a:avLst/>
          </a:prstGeom>
          <a:solidFill>
            <a:schemeClr val="tx2"/>
          </a:solidFill>
          <a:ln w="15875">
            <a:solidFill>
              <a:schemeClr val="accent3"/>
            </a:solidFill>
            <a:prstDash val="dash"/>
          </a:ln>
        </p:spPr>
      </p:sp>
      <p:sp>
        <p:nvSpPr>
          <p:cNvPr id="10" name="Icon circle"/>
          <p:cNvSpPr/>
          <p:nvPr/>
        </p:nvSpPr>
        <p:spPr>
          <a:xfrm>
            <a:off x="822960" y="32461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 FaFlag" descr="Flag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42900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828800" y="3154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2. Community reports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1828800" y="35661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Logged-in users report with a reason. One report per person per event.</a:t>
            </a:r>
            <a:endParaRPr lang="en-US" sz="1400" dirty="0"/>
          </a:p>
        </p:txBody>
      </p:sp>
      <p:sp>
        <p:nvSpPr>
          <p:cNvPr id="14" name="Layer card 3"/>
          <p:cNvSpPr/>
          <p:nvPr/>
        </p:nvSpPr>
        <p:spPr>
          <a:xfrm>
            <a:off x="548640" y="4434840"/>
            <a:ext cx="6035040" cy="1280160"/>
          </a:xfrm>
          <a:prstGeom prst="rect">
            <a:avLst/>
          </a:prstGeom>
          <a:solidFill>
            <a:schemeClr val="tx2"/>
          </a:solidFill>
          <a:ln w="15875">
            <a:solidFill>
              <a:schemeClr val="accent3"/>
            </a:solidFill>
            <a:prstDash val="dash"/>
          </a:ln>
        </p:spPr>
      </p:sp>
      <p:sp>
        <p:nvSpPr>
          <p:cNvPr id="15" name="Icon circle"/>
          <p:cNvSpPr/>
          <p:nvPr/>
        </p:nvSpPr>
        <p:spPr>
          <a:xfrm>
            <a:off x="822960" y="47091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on FaGavel" descr="Gavel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89204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828800" y="4617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3. Admin review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1828800" y="50292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Admins mark events Verified, Flagged or Unverified. Flagged cannot be booked.</a:t>
            </a:r>
            <a:endParaRPr lang="en-US" sz="1400" dirty="0"/>
          </a:p>
        </p:txBody>
      </p:sp>
      <p:sp>
        <p:nvSpPr>
          <p:cNvPr id="19" name="Signals card"/>
          <p:cNvSpPr/>
          <p:nvPr/>
        </p:nvSpPr>
        <p:spPr>
          <a:xfrm>
            <a:off x="6858000" y="1508760"/>
            <a:ext cx="4754880" cy="4206240"/>
          </a:xfrm>
          <a:prstGeom prst="rect">
            <a:avLst/>
          </a:prstGeom>
          <a:solidFill>
            <a:schemeClr val="tx2"/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20" name="Text 14"/>
          <p:cNvSpPr txBox="1"/>
          <p:nvPr/>
        </p:nvSpPr>
        <p:spPr>
          <a:xfrm>
            <a:off x="7132320" y="1737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What moves the score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7132320" y="2286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Good signs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7132320" y="265176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Organizer account older than 30 days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Guests already checked in at past events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A detailed description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7132320" y="39319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Warning signs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7132320" y="42976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Scam phrases like "double your money"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Bank details typed into the description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Price far above the category average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Reports from users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bg2"/>
                </a:solidFill>
              </a:rPr>
              <a:t>The score is a guide, not a guarantee. "Looks OK" means no warning signs were found.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Keeping it secure</a:t>
            </a:r>
            <a:endParaRPr lang="en-US" sz="3600" dirty="0"/>
          </a:p>
        </p:txBody>
      </p:sp>
      <p:sp>
        <p:nvSpPr>
          <p:cNvPr id="4" name="Security card 1"/>
          <p:cNvSpPr/>
          <p:nvPr/>
        </p:nvSpPr>
        <p:spPr>
          <a:xfrm>
            <a:off x="548640" y="1508760"/>
            <a:ext cx="3566160" cy="2194560"/>
          </a:xfrm>
          <a:prstGeom prst="rect">
            <a:avLst/>
          </a:prstGeom>
          <a:solidFill>
            <a:schemeClr val="tx2"/>
          </a:solidFill>
          <a:ln w="15875">
            <a:solidFill>
              <a:schemeClr val="accent3"/>
            </a:solidFill>
            <a:prstDash val="dash"/>
          </a:ln>
        </p:spPr>
      </p:sp>
      <p:sp>
        <p:nvSpPr>
          <p:cNvPr id="5" name="Icon circle"/>
          <p:cNvSpPr/>
          <p:nvPr/>
        </p:nvSpPr>
        <p:spPr>
          <a:xfrm>
            <a:off x="822960" y="17830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 FaKey" descr="Key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" y="1954530"/>
            <a:ext cx="342900" cy="3429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91640" y="17830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Salted password hashes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26974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SHA-256 with a random salt, so equal passwords get different hashes.</a:t>
            </a:r>
            <a:endParaRPr lang="en-US" sz="1400" dirty="0"/>
          </a:p>
        </p:txBody>
      </p:sp>
      <p:sp>
        <p:nvSpPr>
          <p:cNvPr id="9" name="Security card 2"/>
          <p:cNvSpPr/>
          <p:nvPr/>
        </p:nvSpPr>
        <p:spPr>
          <a:xfrm>
            <a:off x="4297680" y="1508760"/>
            <a:ext cx="3566160" cy="2194560"/>
          </a:xfrm>
          <a:prstGeom prst="rect">
            <a:avLst/>
          </a:prstGeom>
          <a:solidFill>
            <a:schemeClr val="tx2"/>
          </a:solidFill>
          <a:ln w="15875">
            <a:solidFill>
              <a:schemeClr val="accent3"/>
            </a:solidFill>
            <a:prstDash val="dash"/>
          </a:ln>
        </p:spPr>
      </p:sp>
      <p:sp>
        <p:nvSpPr>
          <p:cNvPr id="10" name="Icon circle"/>
          <p:cNvSpPr/>
          <p:nvPr/>
        </p:nvSpPr>
        <p:spPr>
          <a:xfrm>
            <a:off x="4572000" y="17830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 FaDatabase" descr="Databas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3450" y="1954530"/>
            <a:ext cx="342900" cy="3429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440680" y="17830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Parameterized SQL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4572000" y="26974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Values go in ? placeholders, never into the SQL text.</a:t>
            </a:r>
            <a:endParaRPr lang="en-US" sz="1400" dirty="0"/>
          </a:p>
        </p:txBody>
      </p:sp>
      <p:sp>
        <p:nvSpPr>
          <p:cNvPr id="14" name="Security card 3"/>
          <p:cNvSpPr/>
          <p:nvPr/>
        </p:nvSpPr>
        <p:spPr>
          <a:xfrm>
            <a:off x="8046720" y="1508760"/>
            <a:ext cx="3566160" cy="2194560"/>
          </a:xfrm>
          <a:prstGeom prst="rect">
            <a:avLst/>
          </a:prstGeom>
          <a:solidFill>
            <a:schemeClr val="tx2"/>
          </a:solidFill>
          <a:ln w="15875">
            <a:solidFill>
              <a:schemeClr val="accent3"/>
            </a:solidFill>
            <a:prstDash val="dash"/>
          </a:ln>
        </p:spPr>
      </p:sp>
      <p:sp>
        <p:nvSpPr>
          <p:cNvPr id="15" name="Icon circle"/>
          <p:cNvSpPr/>
          <p:nvPr/>
        </p:nvSpPr>
        <p:spPr>
          <a:xfrm>
            <a:off x="8321040" y="17830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on FaIdBadge" descr="IdBadg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2490" y="1954530"/>
            <a:ext cx="342900" cy="3429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189720" y="17830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Login tokens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8321040" y="26974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Every request carries X-Auth-Token; the server checks who is asking.</a:t>
            </a:r>
            <a:endParaRPr lang="en-US" sz="1400" dirty="0"/>
          </a:p>
        </p:txBody>
      </p:sp>
      <p:sp>
        <p:nvSpPr>
          <p:cNvPr id="19" name="Security card 4"/>
          <p:cNvSpPr/>
          <p:nvPr/>
        </p:nvSpPr>
        <p:spPr>
          <a:xfrm>
            <a:off x="548640" y="3886200"/>
            <a:ext cx="3566160" cy="2194560"/>
          </a:xfrm>
          <a:prstGeom prst="rect">
            <a:avLst/>
          </a:prstGeom>
          <a:solidFill>
            <a:schemeClr val="tx2"/>
          </a:solidFill>
          <a:ln w="15875">
            <a:solidFill>
              <a:schemeClr val="accent3"/>
            </a:solidFill>
            <a:prstDash val="dash"/>
          </a:ln>
        </p:spPr>
      </p:sp>
      <p:sp>
        <p:nvSpPr>
          <p:cNvPr id="20" name="Icon circle"/>
          <p:cNvSpPr/>
          <p:nvPr/>
        </p:nvSpPr>
        <p:spPr>
          <a:xfrm>
            <a:off x="822960" y="41605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con FaFolder" descr="Folder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410" y="4331970"/>
            <a:ext cx="342900" cy="3429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691640" y="41605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Path traversal blocked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822960" y="50749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Static files cannot escape the frontend folder.</a:t>
            </a:r>
            <a:endParaRPr lang="en-US" sz="1400" dirty="0"/>
          </a:p>
        </p:txBody>
      </p:sp>
      <p:sp>
        <p:nvSpPr>
          <p:cNvPr id="24" name="Security card 5"/>
          <p:cNvSpPr/>
          <p:nvPr/>
        </p:nvSpPr>
        <p:spPr>
          <a:xfrm>
            <a:off x="4297680" y="3886200"/>
            <a:ext cx="3566160" cy="2194560"/>
          </a:xfrm>
          <a:prstGeom prst="rect">
            <a:avLst/>
          </a:prstGeom>
          <a:solidFill>
            <a:schemeClr val="tx2"/>
          </a:solidFill>
          <a:ln w="15875">
            <a:solidFill>
              <a:schemeClr val="accent3"/>
            </a:solidFill>
            <a:prstDash val="dash"/>
          </a:ln>
        </p:spPr>
      </p:sp>
      <p:sp>
        <p:nvSpPr>
          <p:cNvPr id="25" name="Icon circle"/>
          <p:cNvSpPr/>
          <p:nvPr/>
        </p:nvSpPr>
        <p:spPr>
          <a:xfrm>
            <a:off x="4572000" y="41605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on FaCode" descr="Code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3450" y="4331970"/>
            <a:ext cx="342900" cy="34290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440680" y="41605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Escaped output</a:t>
            </a:r>
            <a:endParaRPr lang="en-US" sz="1600" dirty="0"/>
          </a:p>
        </p:txBody>
      </p:sp>
      <p:sp>
        <p:nvSpPr>
          <p:cNvPr id="28" name="Text 20"/>
          <p:cNvSpPr txBox="1"/>
          <p:nvPr/>
        </p:nvSpPr>
        <p:spPr>
          <a:xfrm>
            <a:off x="4572000" y="50749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User text goes through escapeHtml before it reaches the page.</a:t>
            </a:r>
            <a:endParaRPr lang="en-US" sz="1400" dirty="0"/>
          </a:p>
        </p:txBody>
      </p:sp>
      <p:sp>
        <p:nvSpPr>
          <p:cNvPr id="29" name="Security card 6"/>
          <p:cNvSpPr/>
          <p:nvPr/>
        </p:nvSpPr>
        <p:spPr>
          <a:xfrm>
            <a:off x="8046720" y="3886200"/>
            <a:ext cx="3566160" cy="2194560"/>
          </a:xfrm>
          <a:prstGeom prst="rect">
            <a:avLst/>
          </a:prstGeom>
          <a:solidFill>
            <a:schemeClr val="tx2"/>
          </a:solidFill>
          <a:ln w="15875">
            <a:solidFill>
              <a:schemeClr val="accent3"/>
            </a:solidFill>
            <a:prstDash val="dash"/>
          </a:ln>
        </p:spPr>
      </p:sp>
      <p:sp>
        <p:nvSpPr>
          <p:cNvPr id="30" name="Icon circle"/>
          <p:cNvSpPr/>
          <p:nvPr/>
        </p:nvSpPr>
        <p:spPr>
          <a:xfrm>
            <a:off x="8321040" y="41605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1" name="Icon FaUserLock" descr="UserLock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2490" y="4331970"/>
            <a:ext cx="342900" cy="34290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9189720" y="41605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Role checks everywhere</a:t>
            </a:r>
            <a:endParaRPr lang="en-US" sz="1600" dirty="0"/>
          </a:p>
        </p:txBody>
      </p:sp>
      <p:sp>
        <p:nvSpPr>
          <p:cNvPr id="33" name="Text 24"/>
          <p:cNvSpPr txBox="1"/>
          <p:nvPr/>
        </p:nvSpPr>
        <p:spPr>
          <a:xfrm>
            <a:off x="8321040" y="50749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Hiding a button is not security, so the server checks every request.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Organizer name and unique names</a:t>
            </a:r>
            <a:endParaRPr lang="en-US" sz="3600" dirty="0"/>
          </a:p>
        </p:txBody>
      </p:sp>
      <p:sp>
        <p:nvSpPr>
          <p:cNvPr id="4" name="Mock event page"/>
          <p:cNvSpPr/>
          <p:nvPr/>
        </p:nvSpPr>
        <p:spPr>
          <a:xfrm>
            <a:off x="548640" y="1508760"/>
            <a:ext cx="5303520" cy="4434840"/>
          </a:xfrm>
          <a:prstGeom prst="rect">
            <a:avLst/>
          </a:prstGeom>
          <a:solidFill>
            <a:schemeClr val="tx2"/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5" name="Text 2"/>
          <p:cNvSpPr txBox="1"/>
          <p:nvPr/>
        </p:nvSpPr>
        <p:spPr>
          <a:xfrm>
            <a:off x="86868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MUSIC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21031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</a:rPr>
              <a:t>Lagos Jazz Evening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6974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Lagos  |  12 Dec  |  7:00 PM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2461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About this event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6118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An evening of live jazz with local bands.</a:t>
            </a:r>
            <a:endParaRPr lang="en-US" sz="1400" dirty="0"/>
          </a:p>
        </p:txBody>
      </p:sp>
      <p:sp>
        <p:nvSpPr>
          <p:cNvPr id="10" name="Organizer line box"/>
          <p:cNvSpPr/>
          <p:nvPr/>
        </p:nvSpPr>
        <p:spPr>
          <a:xfrm>
            <a:off x="868680" y="4343400"/>
            <a:ext cx="4663440" cy="685800"/>
          </a:xfrm>
          <a:prstGeom prst="rect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97280" y="43434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Organizer:  </a:t>
            </a:r>
            <a:r>
              <a:rPr lang="en-US" sz="2000" b="1" dirty="0">
                <a:solidFill>
                  <a:schemeClr val="bg1"/>
                </a:solidFill>
              </a:rPr>
              <a:t>Chidi Eze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5212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bg2"/>
                </a:solidFill>
              </a:rPr>
              <a:t>Name only. No email or other details.</a:t>
            </a:r>
            <a:endParaRPr lang="en-US" sz="1400" dirty="0"/>
          </a:p>
        </p:txBody>
      </p:sp>
      <p:sp>
        <p:nvSpPr>
          <p:cNvPr id="13" name="Icon circle"/>
          <p:cNvSpPr/>
          <p:nvPr/>
        </p:nvSpPr>
        <p:spPr>
          <a:xfrm>
            <a:off x="6217920" y="1600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con FaEye" descr="Ey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940" y="176022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086600" y="15087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Organizer shown by name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7086600" y="192024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A LEFT JOIN adds organizer_name to the event API.</a:t>
            </a:r>
            <a:endParaRPr lang="en-US" sz="1400" dirty="0"/>
          </a:p>
        </p:txBody>
      </p:sp>
      <p:sp>
        <p:nvSpPr>
          <p:cNvPr id="17" name="Icon circle"/>
          <p:cNvSpPr/>
          <p:nvPr/>
        </p:nvSpPr>
        <p:spPr>
          <a:xfrm>
            <a:off x="6217920" y="2743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con FaUserCheck" descr="UserCheck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7940" y="290322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086600" y="26517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Names must be unique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7086600" y="306324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"amaka okafor" equals "Amaka  Okafor": case and spaces are ignored.</a:t>
            </a:r>
            <a:endParaRPr lang="en-US" sz="1400" dirty="0"/>
          </a:p>
        </p:txBody>
      </p:sp>
      <p:sp>
        <p:nvSpPr>
          <p:cNvPr id="21" name="Icon circle"/>
          <p:cNvSpPr/>
          <p:nvPr/>
        </p:nvSpPr>
        <p:spPr>
          <a:xfrm>
            <a:off x="6217920" y="3886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Icon FaShieldAlt" descr="ShieldAlt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940" y="404622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086600" y="37947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Checked in three places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7086600" y="420624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Sign-up, profile edit and first-admin creation.</a:t>
            </a:r>
            <a:endParaRPr lang="en-US" sz="1400" dirty="0"/>
          </a:p>
        </p:txBody>
      </p:sp>
      <p:sp>
        <p:nvSpPr>
          <p:cNvPr id="25" name="Icon circle"/>
          <p:cNvSpPr/>
          <p:nvPr/>
        </p:nvSpPr>
        <p:spPr>
          <a:xfrm>
            <a:off x="6217920" y="5029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on FaDatabase" descr="Database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7940" y="518922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086600" y="49377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Database backstop</a:t>
            </a:r>
            <a:endParaRPr lang="en-US" sz="1800" dirty="0"/>
          </a:p>
        </p:txBody>
      </p:sp>
      <p:sp>
        <p:nvSpPr>
          <p:cNvPr id="28" name="Text 21"/>
          <p:cNvSpPr txBox="1"/>
          <p:nvPr/>
        </p:nvSpPr>
        <p:spPr>
          <a:xfrm>
            <a:off x="7086600" y="534924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A unique index stops duplicates even if a check is missed.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011680"/>
            <a:ext cx="6949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bg1"/>
                </a:solidFill>
              </a:rPr>
              <a:t>Thank you</a:t>
            </a: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84048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chemeClr val="bg2"/>
                </a:solidFill>
              </a:rPr>
              <a:t>Questions? Naija Events is a student project and not a real ticketing service.</a:t>
            </a:r>
            <a:endParaRPr lang="en-US" sz="2000" dirty="0"/>
          </a:p>
        </p:txBody>
      </p:sp>
      <p:sp>
        <p:nvSpPr>
          <p:cNvPr id="4" name="Ticket card"/>
          <p:cNvSpPr/>
          <p:nvPr/>
        </p:nvSpPr>
        <p:spPr>
          <a:xfrm>
            <a:off x="8321040" y="2103120"/>
            <a:ext cx="3291840" cy="2651760"/>
          </a:xfrm>
          <a:prstGeom prst="rect">
            <a:avLst/>
          </a:prstGeom>
          <a:solidFill>
            <a:schemeClr val="tx2"/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5" name="Punch hole left"/>
          <p:cNvSpPr/>
          <p:nvPr/>
        </p:nvSpPr>
        <p:spPr>
          <a:xfrm>
            <a:off x="8165592" y="3255264"/>
            <a:ext cx="310896" cy="310896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6" name="Punch hole right"/>
          <p:cNvSpPr/>
          <p:nvPr/>
        </p:nvSpPr>
        <p:spPr>
          <a:xfrm>
            <a:off x="11457432" y="3255264"/>
            <a:ext cx="310896" cy="310896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0" y="24688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</a:rPr>
              <a:t>Find it.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8686800" y="31089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Book it.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686800" y="37490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Trust it.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aija Events Neon">
  <a:themeElements>
    <a:clrScheme name="Naija Events Neon">
      <a:dk1>
        <a:srgbClr val="0E0620"/>
      </a:dk1>
      <a:lt1>
        <a:srgbClr val="F6F1FF"/>
      </a:lt1>
      <a:dk2>
        <a:srgbClr val="1C0F3B"/>
      </a:dk2>
      <a:lt2>
        <a:srgbClr val="B6A6DA"/>
      </a:lt2>
      <a:accent1>
        <a:srgbClr val="B47CFF"/>
      </a:accent1>
      <a:accent2>
        <a:srgbClr val="C98A26"/>
      </a:accent2>
      <a:accent3>
        <a:srgbClr val="3A2470"/>
      </a:accent3>
      <a:accent4>
        <a:srgbClr val="C2415A"/>
      </a:accent4>
      <a:accent5>
        <a:srgbClr val="8C3CFF"/>
      </a:accent5>
      <a:accent6>
        <a:srgbClr val="FF4FD8"/>
      </a:accent6>
      <a:hlink>
        <a:srgbClr val="B47CFF"/>
      </a:hlink>
      <a:folHlink>
        <a:srgbClr val="B6A6DA"/>
      </a:folHlink>
    </a:clrScheme>
    <a:fontScheme name="Naija Events Ne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mbri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1144</Words>
  <Application>Microsoft Office PowerPoint</Application>
  <PresentationFormat>Widescreen</PresentationFormat>
  <Paragraphs>156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Cambria</vt:lpstr>
      <vt:lpstr>Naija Events Neon</vt:lpstr>
      <vt:lpstr>Naija Events</vt:lpstr>
      <vt:lpstr>Why Naija Events?</vt:lpstr>
      <vt:lpstr>How it works</vt:lpstr>
      <vt:lpstr>The database: five tables</vt:lpstr>
      <vt:lpstr>Three kinds of accounts</vt:lpstr>
      <vt:lpstr>From booking to the door</vt:lpstr>
      <vt:lpstr>Is this event legit?</vt:lpstr>
      <vt:lpstr>Keeping it secure</vt:lpstr>
      <vt:lpstr>Organizer name and unique names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Naija Events</dc:title>
  <dc:subject>PptxGenJS Presentation</dc:subject>
  <dc:creator>Naija Events student project</dc:creator>
  <cp:lastModifiedBy>Dee Prince</cp:lastModifiedBy>
  <cp:revision>2</cp:revision>
  <dcterms:created xsi:type="dcterms:W3CDTF">2026-10-04T23:07:09Z</dcterms:created>
  <dcterms:modified xsi:type="dcterms:W3CDTF">2026-10-04T23:30:47Z</dcterms:modified>
</cp:coreProperties>
</file>